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2b28cd5cd7473a" /><Relationship Type="http://schemas.openxmlformats.org/officeDocument/2006/relationships/extended-properties" Target="/docProps/app.xml" Id="Rc6b67a001e0442fa" /><Relationship Type="http://schemas.openxmlformats.org/officeDocument/2006/relationships/officeDocument" Target="/ppt/presentation.xml" Id="R96327dfe824242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46c207f4bf4225"/>
  </p:sldMasterIdLst>
  <p:notesMasterIdLst>
    <p:notesMasterId xmlns:r="http://schemas.openxmlformats.org/officeDocument/2006/relationships" r:id="R713190879d694b7d"/>
  </p:notesMasterIdLst>
  <p:sldIdLst>
    <p:sldId xmlns:r="http://schemas.openxmlformats.org/officeDocument/2006/relationships" id="256" r:id="R1117063bb8284ff9"/>
    <p:sldId xmlns:r="http://schemas.openxmlformats.org/officeDocument/2006/relationships" id="257" r:id="R7af03d14dcbb44af"/>
    <p:sldId xmlns:r="http://schemas.openxmlformats.org/officeDocument/2006/relationships" id="258" r:id="R4796d880ec0d4a80"/>
    <p:sldId xmlns:r="http://schemas.openxmlformats.org/officeDocument/2006/relationships" id="259" r:id="R191306e99cfd42b3"/>
    <p:sldId xmlns:r="http://schemas.openxmlformats.org/officeDocument/2006/relationships" id="260" r:id="R545950575f3a446e"/>
    <p:sldId xmlns:r="http://schemas.openxmlformats.org/officeDocument/2006/relationships" id="261" r:id="R88f6781f82c44b2d"/>
    <p:sldId xmlns:r="http://schemas.openxmlformats.org/officeDocument/2006/relationships" id="262" r:id="Re4e4c4f72a6940b8"/>
    <p:sldId xmlns:r="http://schemas.openxmlformats.org/officeDocument/2006/relationships" id="263" r:id="Rc71e22c08caa4d82"/>
    <p:sldId xmlns:r="http://schemas.openxmlformats.org/officeDocument/2006/relationships" id="264" r:id="R845d4fbb69bc42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fe316c28f84ff2" /><Relationship Type="http://schemas.openxmlformats.org/officeDocument/2006/relationships/slideMaster" Target="/ppt/slideMasters/slideMaster1.xml" Id="R6246c207f4bf4225" /><Relationship Type="http://schemas.openxmlformats.org/officeDocument/2006/relationships/notesMaster" Target="/ppt/notesMasters/notesMaster1.xml" Id="R713190879d694b7d" /><Relationship Type="http://schemas.openxmlformats.org/officeDocument/2006/relationships/presProps" Target="/ppt/presProps.xml" Id="R99668febc47140bf" /><Relationship Type="http://schemas.openxmlformats.org/officeDocument/2006/relationships/tableStyles" Target="/ppt/tableStyles.xml" Id="Ra0a7278d58114dc2" /><Relationship Type="http://schemas.openxmlformats.org/officeDocument/2006/relationships/slide" Target="/ppt/slides/slide1.xml" Id="R1117063bb8284ff9" /><Relationship Type="http://schemas.openxmlformats.org/officeDocument/2006/relationships/slide" Target="/ppt/slides/slide2.xml" Id="R7af03d14dcbb44af" /><Relationship Type="http://schemas.openxmlformats.org/officeDocument/2006/relationships/slide" Target="/ppt/slides/slide3.xml" Id="R4796d880ec0d4a80" /><Relationship Type="http://schemas.openxmlformats.org/officeDocument/2006/relationships/slide" Target="/ppt/slides/slide4.xml" Id="R191306e99cfd42b3" /><Relationship Type="http://schemas.openxmlformats.org/officeDocument/2006/relationships/slide" Target="/ppt/slides/slide5.xml" Id="R545950575f3a446e" /><Relationship Type="http://schemas.openxmlformats.org/officeDocument/2006/relationships/slide" Target="/ppt/slides/slide6.xml" Id="R88f6781f82c44b2d" /><Relationship Type="http://schemas.openxmlformats.org/officeDocument/2006/relationships/slide" Target="/ppt/slides/slide7.xml" Id="Re4e4c4f72a6940b8" /><Relationship Type="http://schemas.openxmlformats.org/officeDocument/2006/relationships/slide" Target="/ppt/slides/slide8.xml" Id="Rc71e22c08caa4d82" /><Relationship Type="http://schemas.openxmlformats.org/officeDocument/2006/relationships/slide" Target="/ppt/slides/slide9.xml" Id="R845d4fbb69bc42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8433377d3549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63313a0a28418f" /><Relationship Type="http://schemas.openxmlformats.org/officeDocument/2006/relationships/notesMaster" Target="/ppt/notesMasters/notesMaster1.xml" Id="Ra246401ae3ee45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baa0343fb4427" /><Relationship Type="http://schemas.openxmlformats.org/officeDocument/2006/relationships/notesMaster" Target="/ppt/notesMasters/notesMaster1.xml" Id="R02cb7c7026bb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312b0b4e404729" /><Relationship Type="http://schemas.openxmlformats.org/officeDocument/2006/relationships/notesMaster" Target="/ppt/notesMasters/notesMaster1.xml" Id="Rc10ef6cf5a164a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ef8d970b2445db" /><Relationship Type="http://schemas.openxmlformats.org/officeDocument/2006/relationships/notesMaster" Target="/ppt/notesMasters/notesMaster1.xml" Id="Rde5e07661fec46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ec263ade204b26" /><Relationship Type="http://schemas.openxmlformats.org/officeDocument/2006/relationships/notesMaster" Target="/ppt/notesMasters/notesMaster1.xml" Id="R1d4f3314bd5047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afb24d29a24a94" /><Relationship Type="http://schemas.openxmlformats.org/officeDocument/2006/relationships/notesMaster" Target="/ppt/notesMasters/notesMaster1.xml" Id="Re642a98bb4d941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9e9588a5f04f52" /><Relationship Type="http://schemas.openxmlformats.org/officeDocument/2006/relationships/notesMaster" Target="/ppt/notesMasters/notesMaster1.xml" Id="Rd2e3866b92384b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6e2cd161744b1d" /><Relationship Type="http://schemas.openxmlformats.org/officeDocument/2006/relationships/notesMaster" Target="/ppt/notesMasters/notesMaster1.xml" Id="R9741beae08de42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f0552f0e754303" /><Relationship Type="http://schemas.openxmlformats.org/officeDocument/2006/relationships/notesMaster" Target="/ppt/notesMasters/notesMaster1.xml" Id="R75cd46b11f8d4c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Course-grounded summary. Source: resources/week-02-transcript.txt, lines 127-153 and 159-209; resources/lecture-01-04-linear-and-nonlinear-programming.pdf, slides 70-90.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resources/week-02-transcript.txt, lines 127-153. The lecturer frames sensitivity analysis as preserving the final basic-variable set after a disturbance in A, b, or 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resources/week-02-transcript.txt, lines 147-153 and 207-209; notes/notes.tex, lines 133-143. The reduced-cost sign convention here is y^T A - c &gt;= 0 for a maximization problem written in this basis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calculation created for this deck. Method source: resources/week-02-transcript.txt, lines 127-153 and 159-183. Check: B^-1 b = [-1,1;2,-1][4;5]=[1;3]; c_B^T B^-1=[3,2][-1,1;2,-1]=[1,1].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source: notes/notes.tex, lines 133-143; resources/week-02-transcript.txt, lines 159-183. Illustrative calculation: x_B(theta)=[1-theta,3+2theta]^T, so theta in [-1.5,1]. y=[1,1] yields z(theta)=9+theta.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source: notes/notes.tex, lines 136-143; resources/week-02-transcript.txt, lines 151-153. Illustrative calculation: for the slack nonbasic columns e1,e2, the reduced costs y^T e_i-0 equal y_i and must remain nonnegative. Thus epsilon is in [-1,1].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notes/notes.tex, lines 136-143; resources/week-02-transcript.txt, lines 147-153 and 207-209. The notes explicitly state that a change to a column of A requires recomputing the affected tableau column and reduced cost, then testing feasibility and reduced-cost optimality.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notes/notes.tex, lines 140-143. The explicit caution is that an allowable range means the basis remains optimal, while objective values and basic-variable values can change; once a test fails, pivot or re-optimise.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resources/week-02-transcript.txt, lines 147-153 and 207-209; notes/notes.tex, lines 133-143. This slide synthesizes the course method into a repeatable study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b3af6a76f49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26380d590d42d4" /><Relationship Type="http://schemas.openxmlformats.org/officeDocument/2006/relationships/slideLayout" Target="/ppt/slideLayouts/slideLayout1.xml" Id="Red0ea30aed0a44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0ea30aed0a44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6a782ee37401a" /><Relationship Type="http://schemas.openxmlformats.org/officeDocument/2006/relationships/notesSlide" Target="/ppt/notesSlides/notesSlide1.xml" Id="R86760bb53b2a49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b39b7f9854e3b" /><Relationship Type="http://schemas.openxmlformats.org/officeDocument/2006/relationships/notesSlide" Target="/ppt/notesSlides/notesSlide2.xml" Id="Rddfa907eecff4d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2a4a91b0745bd" /><Relationship Type="http://schemas.openxmlformats.org/officeDocument/2006/relationships/notesSlide" Target="/ppt/notesSlides/notesSlide3.xml" Id="R204b2cddeebb44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8dda733134985" /><Relationship Type="http://schemas.openxmlformats.org/officeDocument/2006/relationships/notesSlide" Target="/ppt/notesSlides/notesSlide4.xml" Id="R1e6b037cfd4b47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bd5811bc84d2f" /><Relationship Type="http://schemas.openxmlformats.org/officeDocument/2006/relationships/notesSlide" Target="/ppt/notesSlides/notesSlide5.xml" Id="Rb42a6456851447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f41c32a224fd6" /><Relationship Type="http://schemas.openxmlformats.org/officeDocument/2006/relationships/notesSlide" Target="/ppt/notesSlides/notesSlide6.xml" Id="Rf7ec3ef7a0874b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6c411925d4c3e" /><Relationship Type="http://schemas.openxmlformats.org/officeDocument/2006/relationships/notesSlide" Target="/ppt/notesSlides/notesSlide7.xml" Id="R5ad3de6a60c74d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443381d634d17" /><Relationship Type="http://schemas.openxmlformats.org/officeDocument/2006/relationships/notesSlide" Target="/ppt/notesSlides/notesSlide8.xml" Id="R0b57d336bc9540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ac626de824460" /><Relationship Type="http://schemas.openxmlformats.org/officeDocument/2006/relationships/notesSlide" Target="/ppt/notesSlides/notesSlide9.xml" Id="Rcc7a32ac81804e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59144-5D92-414B-84FA-9454562B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rPr>
              <a:t>EE6204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B5281-A25C-4860-94F8-99BD2B77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733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Sensitivity Analysis</a:t>
            </a:r>
          </a:p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 the Simplex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7A309-A91E-4967-9588-3370BEAA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81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rPr>
              <a:t>How far may the LP data move before the current basis stops certifying the optimum?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B1AC6-796F-4EE7-AD7D-4F5074DC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FB3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9FB3C8"/>
                </a:solidFill>
                <a:latin typeface="Helvetica Neue"/>
                <a:ea typeface="Helvetica Neue"/>
                <a:cs typeface="Helvetica Neue"/>
              </a:rPr>
              <a:t>A basis-first explanation: RHS, objective coefficients, and technology coefficients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E5BBA-DEEC-4A03-9239-766AA67D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095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rPr>
              <a:t>known optimum</a:t>
            </a:r>
          </a:p>
          <a:p xmlns:a="http://schemas.openxmlformats.org/drawingml/2006/main">
            <a:pPr algn="ctr">
              <a:defRPr sz="1875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rPr>
              <a:t>  ↓</a:t>
            </a:r>
          </a:p>
          <a:p xmlns:a="http://schemas.openxmlformats.org/drawingml/2006/main">
            <a:pPr algn="ctr">
              <a:defRPr sz="1875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rPr>
              <a:t>small disturbance</a:t>
            </a:r>
          </a:p>
          <a:p xmlns:a="http://schemas.openxmlformats.org/drawingml/2006/main">
            <a:pPr algn="ctr">
              <a:defRPr sz="1875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rPr>
              <a:t>  ↓</a:t>
            </a:r>
          </a:p>
          <a:p xmlns:a="http://schemas.openxmlformats.org/drawingml/2006/main">
            <a:pPr algn="ctr">
              <a:defRPr sz="1875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8FC7FF"/>
                </a:solidFill>
                <a:latin typeface="Helvetica Neue"/>
                <a:ea typeface="Helvetica Neue"/>
                <a:cs typeface="Helvetica Neue"/>
              </a:rPr>
              <a:t>two tests</a:t>
            </a:r>
          </a:p>
        </p:txBody>
      </p:sp>
    </p:spTree>
    <p:extLst>
      <p:ext uri="{BB962C8B-B14F-4D97-AF65-F5344CB8AC3E}">
        <p14:creationId xmlns:p14="http://schemas.microsoft.com/office/powerpoint/2010/main" val="808722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CBBAE-D7C8-4402-92ED-B39DF669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6D42F-6192-46BE-971C-5AE73FF2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What sensitivity analysis 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12A5E-D062-4F27-986C-19EE2B6D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You have already solved one LP. Do not solve it again unless its current certificate breaks.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05C40-2D12-4F9D-A5BA-F321A24D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79A5A-A1BC-4788-BCF8-B1E3CFAF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Original LP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9DCDC-B9EF-4BBD-A615-A687F60E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81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max cᵀx</a:t>
            </a:r>
          </a:p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subject to Ax = b,  x ≥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C37A5-A0D2-4875-8408-86829526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After simplex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E5F0-20CF-4299-A836-9C82E03F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A particular column set B is basic.</a:t>
            </a:r>
          </a:p>
          <a:p xmlns:a="http://schemas.openxmlformats.org/drawingml/2006/main">
            <a:pPr algn="l">
              <a:defRPr sz="1650" b="0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It gives xᴮ = B⁻¹b and an optimal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A2A24-B7F1-404A-A03A-243ADB56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rPr>
              <a:t>Now perturb one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20D6F-4AE9-4252-B955-29403A11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4095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  resource limits</a:t>
            </a:r>
          </a:p>
          <a:p xmlns:a="http://schemas.openxmlformats.org/drawingml/2006/main">
            <a:pPr algn="l">
              <a:defRPr sz="18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  unit profit / cost</a:t>
            </a:r>
          </a:p>
          <a:p xmlns:a="http://schemas.openxmlformats.org/drawingml/2006/main">
            <a:pPr algn="l">
              <a:defRPr sz="18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 technology coefficients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71BF7-9E2F-491D-B5F5-0318ADCC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3EBE6-248F-4760-9370-35DAA049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Does the same B still produce a feasible and optimal basic solution?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B0A8D-F51A-4634-8742-FC15C5A1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Source: Week 2 transcript, lines 127-153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315AB-327F-4837-B90C-C25AD82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EE6204 •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368096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D47F6-92F4-44E5-8511-F453DFA1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2A7A9-0721-4B7C-AFB1-7CEBF04B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final tableau as a certificate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37941-FDD7-4377-B13E-AC34926F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It records enough linear algebra to test the old basis without repeating every pivot.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8A7D0-4E58-4E66-9DCF-6E1C811F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0C7B4-1374-4057-AFFC-39015FE9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DB0A4-4399-41BB-940C-5123D523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the columns of A belonging to the final basic 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D168-AB12-4066-8245-12AAD054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B⁻¹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A420A-7128-4FF6-A950-8CC249E8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the row operations accumulated by simplex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E3398-681D-46D6-9AC6-2C1B565C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098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yᵀ = cᴮᵀB⁻¹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DC40A-C85E-4BE0-B4E1-5ACEF04C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dual multipliers / shadow prices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5C2C4-ADCA-457E-A411-4242E779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99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Two tests for the old basis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8F336-F665-42D3-A9A6-96DA4646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48125"/>
            <a:ext cx="4429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1. Feasibility:  B⁻¹b′ ≥ 0</a:t>
            </a:r>
          </a:p>
          <a:p xmlns:a="http://schemas.openxmlformats.org/drawingml/2006/main">
            <a:pPr algn="l">
              <a:defRPr sz="15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2. Optimality:  yᵀA′ − c′ has the correct reduced-cost signs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21ED8-195C-49CF-A95A-FB4EF14D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177E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1">
                <a:solidFill>
                  <a:srgbClr val="177E5F"/>
                </a:solidFill>
                <a:latin typeface="Helvetica Neue"/>
                <a:ea typeface="Helvetica Neue"/>
                <a:cs typeface="Helvetica Neue"/>
              </a:rPr>
              <a:t>Read it as: the current corner must remain reachable, and no nonbasic direction may improve the objective.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7E570-7497-4F3F-AABB-18C5CCC0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Source: Week 2 transcript, lines 147-153 and 207-209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8DF85-EF54-4919-AFD6-10508FDF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EE6204 •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708868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A1E1F-1116-4094-9069-D2A137D3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158EF-9A1F-4C02-B0E8-53553794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small LP that exposes every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4F99C-6F34-476A-8135-6C5AB668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Use this solved problem as a running example. Its basic variables are x₁ and x₂.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22C47-3440-4B8F-AE11-41685EEB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0EBD8-9988-4BB1-9E71-6B1B2F87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524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max  3x₁ + 2x₂</a:t>
            </a:r>
          </a:p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subject to</a:t>
            </a:r>
          </a:p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  x₁ + x₂ ≤ 4</a:t>
            </a:r>
          </a:p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2x₁ + x₂ ≤ 5</a:t>
            </a:r>
          </a:p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  x₁, x₂ ≥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22F19-3479-4D38-827C-045538A9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621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Final basis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95023-4D0B-46A3-B46F-2C42BCBE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7175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B = [ [1, 1], [2, 1] ]</a:t>
            </a:r>
          </a:p>
          <a:p xmlns:a="http://schemas.openxmlformats.org/drawingml/2006/main">
            <a:pPr algn="l">
              <a:defRPr sz="18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B⁻¹ = [ [-1, 1], [2, -1]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4F96B-3F69-41B5-A890-AB96574A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19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Basic 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3D8DF-C373-4D0D-939D-3D35F19A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29100"/>
            <a:ext cx="428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xᴮ = B⁻¹b = [1, 3]ᵀ</a:t>
            </a:r>
          </a:p>
          <a:p xmlns:a="http://schemas.openxmlformats.org/drawingml/2006/main">
            <a:pPr algn="l">
              <a:defRPr sz="180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z* = 3(1) + 2(3) = 9</a:t>
            </a:r>
          </a:p>
          <a:p xmlns:a="http://schemas.openxmlformats.org/drawingml/2006/main">
            <a:pPr algn="l">
              <a:defRPr sz="180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yᵀ = cᴮᵀB⁻¹ = [1, 1]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86D2F-7508-4C70-B8DF-9AFF940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177E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177E5F"/>
                </a:solidFill>
                <a:latin typeface="Helvetica Neue"/>
                <a:ea typeface="Helvetica Neue"/>
                <a:cs typeface="Helvetica Neue"/>
              </a:rPr>
              <a:t>Interpretation: each extra unit of either resource is worth 1, while this same basis stays valid.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88739-42F9-485A-9EB6-6917E290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Illustrative calculation; method aligned to Week 2 sensitivity lecture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334AF-F195-4386-A6F5-BBF66829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EE6204 •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1973424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E5997-14BB-4D94-88AD-728F6723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DDD51-7B13-42BB-B520-DBBA904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RHS changes: feasibility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3AD66-45CE-457D-ADF4-1E0B3888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A resource-limit change moves the current corner. The basis can stay optimal only while its basic variables stay nonnegative.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89765-C9B6-4E5B-8BB4-B34647A8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453BF-3841-42C6-9C2A-7C5298F0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Change the first limit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2B9D7-5167-4B87-BF2C-29D07D2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b₁′ = 4 + 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71EF7-2578-464B-B2C2-8EEE28E9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xᴮ(θ) = B⁻¹ [4 + θ, 5]ᵀ</a:t>
            </a:r>
          </a:p>
          <a:p xmlns:a="http://schemas.openxmlformats.org/drawingml/2006/main">
            <a:pPr algn="l">
              <a:defRPr sz="19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          = [1 − θ, 3 + 2θ]ᵀ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EB06E-6ECC-4F7C-89C7-877DD13A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rPr>
              <a:t>Feasibility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B0265-CA4F-45B5-BECD-75FC990A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8127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1 − θ ≥ 0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3 + 2θ ≥ 0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therefore  −1.5 ≤ θ ≤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9CEDD-DFAF-40FE-9E02-B49DB4A6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7E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7E5F"/>
                </a:solidFill>
                <a:latin typeface="Helvetica Neue"/>
                <a:ea typeface="Helvetica Neue"/>
                <a:cs typeface="Helvetica Neue"/>
              </a:rPr>
              <a:t>Within this interval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550E5-843F-4069-8963-DDE1B301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same basis B;  z*(θ) = yᵀb′ = 9 + 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7D492-882F-44E3-A7DA-8565C1BF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91075"/>
            <a:ext cx="4095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64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Shadow price y₁ = 1 means one extra unit of b₁ raises z* by 1 only for −1.5 ≤ θ ≤ 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873E2-D815-41ED-BB49-22F9F3F1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Source: notes/notes.tex §3.2; Week 2 transcript, lines 159-183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2B4A1-8D60-4801-BAB4-9ACDE603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EE6204 •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1760148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9846E-4A87-4826-B37C-53298AF3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5F57A-AE66-4983-A5FF-C208B68C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Objective-coefficient changes: test reduced costs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2138C-3B07-4750-91B3-9773F027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Changing profit or cost leaves B⁻¹b unchanged. It changes the dual prices and therefore the optimality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A9260-98E6-49DF-9FE9-A35B1B68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36B59-3176-49A4-A0B3-43B75A5B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Change the profit of x₁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F34C4-F11D-4AB3-AB24-653E2D1E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c₁′ = 3 + 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A6137-0812-466C-863E-7D84FE51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yᵀ(ε) = [3 + ε, 2]B⁻¹</a:t>
            </a:r>
          </a:p>
          <a:p xmlns:a="http://schemas.openxmlformats.org/drawingml/2006/main">
            <a:pPr algn="l">
              <a:defRPr sz="19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             = [1 − ε, 1 + ε]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3A2A6-FE69-445C-B97D-1E7EF059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Slack columns require y₁ ≥ 0 and y₂ ≥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AC012-C064-4562-B121-C780F300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rPr>
              <a:t>Optimality condition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CA1B8-AE2C-4749-8394-836543E9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1 − ε ≥ 0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1 + ε ≥ 0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therefore  −1 ≤ ε ≤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FFA37-87C6-438C-A588-9A19C127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7E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7E5F"/>
                </a:solidFill>
                <a:latin typeface="Helvetica Neue"/>
                <a:ea typeface="Helvetica Neue"/>
                <a:cs typeface="Helvetica Neue"/>
              </a:rPr>
              <a:t>So 2 ≤ c₁′ ≤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2DA39-1FB2-4813-9E98-9EC5DE44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09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6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Within this interval, x* remains [1, 3]ᵀ and z*(ε) = 9 + ε. At an endpoint, another basis may tie; beyond it, re-optimise.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6C1B2-EDAE-43E5-9203-91AC9BD9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Source: notes/notes.tex §3.2; Week 2 transcript, lines 151-153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47F4D-0301-46C0-B3BD-ED21419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EE6204 •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699571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C809B-28DD-474F-A320-48C9906E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39646-A23F-4D8F-A34F-7F60F517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A-matrix changes: both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E326E-97F4-4D4B-A920-A4A72F46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Changing A changes the geometry of the constraints, so it can break feasibility and optimality at the same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F11C3-75ED-46AB-B9C8-C299C35C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CD48D-5330-4FA7-B8A0-75D1931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If a nonbasic column aⱼ changes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28C1A-E254-420E-B457-E072D30B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61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Recompute B⁻¹aⱼ and yᵀaⱼ − cⱼ.</a:t>
            </a:r>
          </a:p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The basic solution does not move,</a:t>
            </a:r>
          </a:p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but the new direction may improve 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4A94A-4B2F-4C08-BD8B-E6C16045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rPr>
              <a:t>If a basic column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74484-A278-47B6-8E15-AE041181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09850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Form B′ and recompute B′⁻¹b.</a:t>
            </a:r>
          </a:p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Then recompute y′ᵀ = cᴮᵀB′⁻¹</a:t>
            </a:r>
          </a:p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and every reduced cost.</a:t>
            </a:r>
          </a:p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Test feasibility and optimality.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08D4D-2D2F-4AE0-ABB7-BEDF4220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Why A is harder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13414-67CB-4224-85B1-07668A8D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03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RHS changes test where the old corner moves. Objective changes test whether the old corner remains attractive. A changes can alter both facts.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A3A38-E344-455E-89EA-6D7A48E4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Source: notes/notes.tex §3.2; Week 2 transcript, lines 147-153 and 207-209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0DF62-35C8-44B2-8F26-DECEE14C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EE6204 •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1413545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5CCC6-B9D3-4863-914D-DFA9C241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3FC00-7F5B-4E86-965E-FBBEB9EB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How to read an allowable range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DA30B-F413-43CC-ACD1-0B84A176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The word ‘allowable’ describes the old basis, not a promise that every quantity is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1FD22-D532-4152-914D-1A4B89BF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FF841-9309-4E06-A31A-B848FA3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764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7E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77E5F"/>
                </a:solidFill>
                <a:latin typeface="Helvetica Neue"/>
                <a:ea typeface="Helvetica Neue"/>
                <a:cs typeface="Helvetica Neue"/>
              </a:rPr>
              <a:t>Inside the range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1D0B9-1D3E-46E5-8C93-C97C5BC0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38450"/>
            <a:ext cx="4333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• The same variables remain basic</a:t>
            </a:r>
          </a:p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• Feasibility and reduced-cost tests pass</a:t>
            </a:r>
          </a:p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• xᴮ and z may still change</a:t>
            </a:r>
          </a:p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• One-parameter value changes follow the shadow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88A6B-B101-4128-A3E6-BDF85600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764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C65D07"/>
                </a:solidFill>
                <a:latin typeface="Helvetica Neue"/>
                <a:ea typeface="Helvetica Neue"/>
                <a:cs typeface="Helvetica Neue"/>
              </a:rPr>
              <a:t>At a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031FD-9E54-4E81-97DD-C4EB1CF9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3714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A basic variable can reach zero, or a reduced cost can reach zero. A neighbouring basis may tie.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E2D72-8D56-4B0D-BC64-D09CF812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1490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Outside the 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1113B-6182-4635-B9E7-BC5F465D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410200"/>
            <a:ext cx="963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52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The old certificate failed. Do not extrapolate its shadow price or keep its basis by assumption. Pivot or re-solve.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59BD2-9158-4AD8-A4E4-0ECFC22F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Source: notes/notes.tex §3.2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2FA2E-280F-4A46-B1C4-D6B13F16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EE6204 •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11562540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7D259-73A6-4BF5-8561-4CF06459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F6FE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555E5-F8E0-44BF-916C-6E8A0F65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repeatable sensitivity-analysis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6A67A-A4B1-4DAE-8F48-BD504FAC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Start from a final simplex tableau or an equivalent basis certificate.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BF259-D8CA-4E17-8766-882E3BF8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9C979-3C7A-46D4-908A-D03FF38B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1  Identify B, B⁻¹, cᴮ, xᴮ, and yᵀ = cᴮᵀB⁻¹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3BD32-8951-46BC-BE45-C2F04FB9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  State exactly what changes: b, c, an A column, or several parameters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09660-4498-4828-856A-FC446201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3  Apply the relevant test: B⁻¹b′ ≥ 0 for feasibility; reduced-cost signs for optimality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95F2A-C8C3-42A5-B86F-58EC0933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4  Intersect the resulting inequalities to obtain the allowable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9E36A-B09C-4841-8CF9-B3294896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5  Within it, reuse the basis and update the value. Outside it, pivot or re-solve.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6B097-A6E5-4E99-9D8C-F5341EE3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97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58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7E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7E5F"/>
                </a:solidFill>
                <a:latin typeface="Helvetica Neue"/>
                <a:ea typeface="Helvetica Neue"/>
                <a:cs typeface="Helvetica Neue"/>
              </a:rPr>
              <a:t>The discipline is simple: keep feasibility and keep optimality. Sensitivity analysis only tells you when the old certificate still proves both.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B62DE-71D3-4D38-854D-4F1A6FC0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Source: Week 2 sensitivity lecture; notes/notes.tex §3.2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55B9B-7E70-40E5-B607-24B7F3CE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EE6204 •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976384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2026-09-04T10:12:17.6730000Z</dcterms:created>
  <dcterms:modified xsi:type="dcterms:W3CDTF">2026-09-04T10:12:17.6730000Z</dcterms:modified>
</coreProperties>
</file>